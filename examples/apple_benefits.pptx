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314575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F97316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800000"/>
            <a:ext cx="6480000" cy="10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icrosoft YaHei UI"/>
              </a:rPr>
              <a:t>每天一个苹果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700000"/>
            <a:ext cx="6480000" cy="90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icrosoft YaHei UI"/>
              </a:rPr>
              <a:t>医生远离我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780000"/>
            <a:ext cx="6480000" cy="54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Microsoft YaHei UI"/>
              </a:rPr>
              <a:t>科学解读苹果的营养价值与健康益处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4680000"/>
            <a:ext cx="1440000" cy="5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220000"/>
            <a:ext cx="6480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Microsoft YaHei UI"/>
              </a:rPr>
              <a:t>2026 年健康饮食指南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720000"/>
            <a:ext cx="6984000" cy="64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Microsoft YaHei UI"/>
              </a:rPr>
              <a:t>一颗苹果的数据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368000"/>
            <a:ext cx="1080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1800000"/>
            <a:ext cx="1980000" cy="180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980000" cy="7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3600" b="1" i="0">
                <a:solidFill>
                  <a:srgbClr val="DC2626"/>
                </a:solidFill>
                <a:latin typeface="Microsoft YaHei UI"/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70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icrosoft YaHei UI"/>
              </a:rPr>
              <a:t>千卡 / 每颗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0000" y="1800000"/>
            <a:ext cx="1980000" cy="180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000" y="1980000"/>
            <a:ext cx="1980000" cy="7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3600" b="1" i="0">
                <a:solidFill>
                  <a:srgbClr val="DC2626"/>
                </a:solidFill>
                <a:latin typeface="Microsoft YaHei UI"/>
              </a:rPr>
              <a:t>4.4g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0" y="270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icrosoft YaHei UI"/>
              </a:rPr>
              <a:t>膳食纤维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00000"/>
            <a:ext cx="1980000" cy="180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0" y="1980000"/>
            <a:ext cx="1980000" cy="7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3600" b="1" i="0">
                <a:solidFill>
                  <a:srgbClr val="DC2626"/>
                </a:solidFill>
                <a:latin typeface="Microsoft YaHei UI"/>
              </a:rPr>
              <a:t>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0" y="270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icrosoft YaHei UI"/>
              </a:rPr>
              <a:t>每日维生素C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032000"/>
            <a:ext cx="698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主要营养成分（每 182g 中等苹果）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80000" y="4500000"/>
          <a:ext cx="6984000" cy="6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000"/>
                <a:gridCol w="1746000"/>
                <a:gridCol w="1746000"/>
                <a:gridCol w="1746000"/>
              </a:tblGrid>
              <a:tr h="1287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碳水化合物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25g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9%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能量供给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1287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膳食纤维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4.4g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16%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促进消化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1287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维生素 C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8.4mg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14%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免疫抗氧化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  <a:tr h="1287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钾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195mg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6%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调节血压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1287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维生素 K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4μg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5%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骨骼凝血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80000" y="6588000"/>
            <a:ext cx="6984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Microsoft YaHei UI"/>
              </a:rPr>
              <a:t>数据来源：USDA FoodData Central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720000"/>
            <a:ext cx="6984000" cy="64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Microsoft YaHei UI"/>
              </a:rPr>
              <a:t>苹果的六大健康益处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368000"/>
            <a:ext cx="1080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1800000"/>
            <a:ext cx="3060000" cy="2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980000"/>
            <a:ext cx="54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C2626"/>
                </a:solidFill>
                <a:latin typeface="Microsoft YaHei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2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保护心脏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2448000"/>
            <a:ext cx="2700000" cy="144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苹果富含可溶性纤维和多酚类物质，有助于降低血液中的胆固醇水平，减少动脉粥样硬化风险。每天吃一个苹果可降低 12% 的心血管疾病风险。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0" y="1800000"/>
            <a:ext cx="3060000" cy="2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1980000"/>
            <a:ext cx="54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C2626"/>
                </a:solidFill>
                <a:latin typeface="Microsoft YaHei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2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促进消化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2448000"/>
            <a:ext cx="2700000" cy="144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苹果中的果胶是一种益生元，能促进肠道有益菌群生长。丰富的膳食纤维帮助维持肠道规律运转，预防便秘。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4500000"/>
            <a:ext cx="3060000" cy="6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0000" y="4680000"/>
            <a:ext cx="54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C2626"/>
                </a:solidFill>
                <a:latin typeface="Microsoft YaHei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2000" y="46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辅助控重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5148000"/>
            <a:ext cx="2700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苹果热量低（约 95 千卡）、饱腹感强，是理想的加餐选择。研究显示，餐前吃苹果可减少正餐摄入量约 15%。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0000" y="4500000"/>
            <a:ext cx="3060000" cy="6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0" y="4680000"/>
            <a:ext cx="54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C2626"/>
                </a:solidFill>
                <a:latin typeface="Microsoft YaHei U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00" y="46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增强免疫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5148000"/>
            <a:ext cx="2700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维生素 C 和多种抗氧化物质协同作用，增强免疫系统功能。槲皮素等黄酮类化合物具有抗炎和抗过敏特性。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720000"/>
            <a:ext cx="6984000" cy="64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Microsoft YaHei UI"/>
              </a:rPr>
              <a:t>更多健康益处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368000"/>
            <a:ext cx="1080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1800000"/>
            <a:ext cx="3060000" cy="2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980000"/>
            <a:ext cx="54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C2626"/>
                </a:solidFill>
                <a:latin typeface="Microsoft YaHei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2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稳定血糖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2448000"/>
            <a:ext cx="2700000" cy="144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苹果的低升糖指数（GI=36）和丰富的纤维使糖分缓慢释放。研究表明，每周吃 5 个以上苹果的人，患 2 型糖尿病风险降低 23%。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0" y="1800000"/>
            <a:ext cx="3060000" cy="2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1980000"/>
            <a:ext cx="54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DC2626"/>
                </a:solidFill>
                <a:latin typeface="Microsoft YaHei U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2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延缓衰老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2448000"/>
            <a:ext cx="2700000" cy="144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苹果皮含有丰富的多酚和槲皮素，是天然的抗氧化剂。这些物质能中和自由基，减缓细胞老化，保护皮肤健康。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4680000"/>
            <a:ext cx="6984000" cy="46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0" y="4860000"/>
            <a:ext cx="2880000" cy="2835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icrosoft YaHei UI"/>
              </a:rPr>
              <a:t>关键研究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5220000"/>
            <a:ext cx="6300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icrosoft YaHei UI"/>
              </a:rPr>
              <a:t>BMJ 2016 研究：每天吃一个苹果可预防约 8,500 例心血管死亡/年（英国数据）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5580000"/>
            <a:ext cx="6300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icrosoft YaHei UI"/>
              </a:rPr>
              <a:t>Food Chemistry 2019：苹果多酚的抗氧化能力是维生素 C 的 2-6 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5940000"/>
            <a:ext cx="6300000" cy="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icrosoft YaHei UI"/>
              </a:rPr>
              <a:t>PLOS Medicine 2016：每日苹果摄入与全因死亡率降低 35% 相关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720000"/>
            <a:ext cx="6984000" cy="64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Microsoft YaHei UI"/>
              </a:rPr>
              <a:t>科学食用建议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368000"/>
            <a:ext cx="1080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1800000"/>
            <a:ext cx="1980000" cy="25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Microsoft YaHei UI"/>
              </a:rPr>
              <a:t>最佳时间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000" y="2448000"/>
            <a:ext cx="1764000" cy="16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上午 10 点或下午 3 点作为加餐，避免空腹或睡前食用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0000" y="1800000"/>
            <a:ext cx="1980000" cy="25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Microsoft YaHei UI"/>
              </a:rPr>
              <a:t>带皮吃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8000" y="2448000"/>
            <a:ext cx="1764000" cy="16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苹果皮含大量多酚和纤维，清洗干净后建议连皮食用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00000"/>
            <a:ext cx="1980000" cy="252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0" y="1980000"/>
            <a:ext cx="19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Microsoft YaHei UI"/>
              </a:rPr>
              <a:t>适量原则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8000" y="2448000"/>
            <a:ext cx="1764000" cy="16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Microsoft YaHei UI"/>
              </a:rPr>
              <a:t>每天 1-2 个中等大小苹果即可满足营养需求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752000"/>
            <a:ext cx="698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YaHei UI"/>
              </a:rPr>
              <a:t>常见品种对比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80000" y="5220000"/>
          <a:ext cx="69840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000"/>
                <a:gridCol w="1746000"/>
                <a:gridCol w="1746000"/>
                <a:gridCol w="1746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富士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脆甜多汁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高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直接食用、沙拉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青苹果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酸脆清爽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低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烘焙、榨汁、控糖人群</a:t>
                      </a:r>
                    </a:p>
                  </a:txBody>
                  <a:tcPr marL="72000" marR="72000" marT="36000" marB="3600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红蛇果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绵软香甜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中高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</a:rPr>
                        <a:t>老人儿童、果泥</a:t>
                      </a:r>
                    </a:p>
                  </a:txBody>
                  <a:tcPr marL="72000" marR="72000" marT="36000" marB="360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1980000"/>
            <a:ext cx="6480000" cy="90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icrosoft YaHei UI"/>
              </a:rPr>
              <a:t>每天一个苹果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880000"/>
            <a:ext cx="6480000" cy="72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 UI"/>
              </a:rPr>
              <a:t>健康从饮食开始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0" y="3888000"/>
            <a:ext cx="1440000" cy="5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4248000"/>
            <a:ext cx="6480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Microsoft YaHei UI"/>
              </a:rPr>
              <a:t>低热量 | 高纤维 | 富含抗氧化物 | 降低慢性病风险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5040000"/>
            <a:ext cx="6480000" cy="1035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Microsoft YaHei UI"/>
              </a:rPr>
              <a:t>An apple a day keeps the doctor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