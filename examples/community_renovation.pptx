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3B82F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080000"/>
            <a:ext cx="6624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 UI"/>
              </a:rPr>
              <a:t>老旧小区综合改造方案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2088000"/>
            <a:ext cx="6624000" cy="43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800" b="0" i="0">
                <a:solidFill>
                  <a:srgbClr val="DBEAFE"/>
                </a:solidFill>
                <a:latin typeface="Microsoft YaHei UI"/>
              </a:rPr>
              <a:t>提升居住品质 · 完善社区功能 · 打造宜居家园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0000" y="2700000"/>
            <a:ext cx="1260000" cy="5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0000" y="306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Microsoft YaHei UI"/>
              </a:rPr>
              <a:t>XX 街道办事处  |  2026 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Microsoft YaHei UI"/>
              </a:rPr>
              <a:t>项目背景与现状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1656000" cy="12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224000"/>
            <a:ext cx="1656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400" b="1" i="0">
                <a:solidFill>
                  <a:srgbClr val="1E40AF"/>
                </a:solidFill>
                <a:latin typeface="Microsoft YaHei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728000"/>
            <a:ext cx="165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 UI"/>
              </a:rPr>
              <a:t>建成年数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2000" y="1152000"/>
            <a:ext cx="1656000" cy="12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2000" y="1224000"/>
            <a:ext cx="1656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400" b="1" i="0">
                <a:solidFill>
                  <a:srgbClr val="1E40AF"/>
                </a:solidFill>
                <a:latin typeface="Microsoft YaHei UI"/>
              </a:rPr>
              <a:t>1,280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2000" y="1728000"/>
            <a:ext cx="165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 UI"/>
              </a:rPr>
              <a:t>涉及住户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4000" y="1152000"/>
            <a:ext cx="1656000" cy="12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4000" y="1224000"/>
            <a:ext cx="1656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400" b="1" i="0">
                <a:solidFill>
                  <a:srgbClr val="1E40AF"/>
                </a:solidFill>
                <a:latin typeface="Microsoft YaHei UI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000" y="1728000"/>
            <a:ext cx="165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 UI"/>
              </a:rPr>
              <a:t>涉及楼栋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6000" y="1152000"/>
            <a:ext cx="1728000" cy="126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1224000"/>
            <a:ext cx="1728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400" b="1" i="0">
                <a:solidFill>
                  <a:srgbClr val="1E40AF"/>
                </a:solidFill>
                <a:latin typeface="Microsoft YaHei UI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1728000"/>
            <a:ext cx="1728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 UI"/>
              </a:rPr>
              <a:t>设施老化率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2664000"/>
            <a:ext cx="36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核心问题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3024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3132000"/>
            <a:ext cx="3168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0" i="0">
                <a:solidFill>
                  <a:srgbClr val="1E40AF"/>
                </a:solidFill>
                <a:latin typeface="Microsoft YaHei UI"/>
              </a:rPr>
              <a:t>基础设施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420000"/>
            <a:ext cx="3168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供水管网锈蚀漏水，排水管道堵塞频发，冬季供暖不达标，强弱电线缆杂乱外露，道路破损积水严重。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6000" y="3024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6000" y="3132000"/>
            <a:ext cx="3168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0" i="0">
                <a:solidFill>
                  <a:srgbClr val="1E40AF"/>
                </a:solidFill>
                <a:latin typeface="Microsoft YaHei UI"/>
              </a:rPr>
              <a:t>居住环境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6000" y="3420000"/>
            <a:ext cx="3168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外墙保温层脱落，楼顶渗漏普遍，楼道照明缺失，消防通道被占用，绿化带荒废，缺少无障碍设施。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Microsoft YaHei UI"/>
              </a:rPr>
              <a:t>改造内容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152000"/>
            <a:ext cx="2376000" cy="3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152000"/>
            <a:ext cx="2376000" cy="25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152000"/>
            <a:ext cx="237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 UI"/>
              </a:rPr>
              <a:t>基础类（必改）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512000"/>
            <a:ext cx="2160000" cy="30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供水管网改造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排水系统雨污分流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供暖管道更换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强弱电入地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道路修缮与黑化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路灯照明更新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消防设施升级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外墙保温防水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2000" y="1152000"/>
            <a:ext cx="2376000" cy="3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2000" y="1152000"/>
            <a:ext cx="2376000" cy="25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2000" y="1152000"/>
            <a:ext cx="237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 UI"/>
              </a:rPr>
              <a:t>完善类（宜改）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512000"/>
            <a:ext cx="2160000" cy="30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加装电梯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增设停车位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非机动车充电桩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快递柜/智能柜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垃圾分类点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适老化改造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无障碍坡道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单元门禁系统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4000" y="1152000"/>
            <a:ext cx="2376000" cy="3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4000" y="1152000"/>
            <a:ext cx="2376000" cy="25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4000" y="1152000"/>
            <a:ext cx="2376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 UI"/>
              </a:rPr>
              <a:t>提升类（愿改）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2000" y="1512000"/>
            <a:ext cx="2160000" cy="30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社区服务中心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文化活动广场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儿童游乐设施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健身步道/器材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绿化景观提升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智慧社区平台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社区养老驿站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便民商业配套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Microsoft YaHei UI"/>
              </a:rPr>
              <a:t>改造前后对比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000" y="1152000"/>
          <a:ext cx="7344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供水管网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铸铁管锈蚀，水质发黄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PPR 热熔管，分户计量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水质达标 100%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排水系统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雨污合流，暴雨内涝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雨污分流，增设雨水花园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内涝消除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道路路面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沥青龟裂，积水坑洼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沥青罩面，透水铺装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平整度 95%+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外墙保温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保温层脱落，能耗高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80mm 岩棉+真石漆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节能 30%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楼道环境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照明缺失，堆放杂物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LED 声控灯，墙面翻新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明亮整洁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停车管理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随意停放，堵塞消防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划线车位，智能道闸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车位增 40%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绿化景观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黄土裸露，缺乏养护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补植乔灌，休闲步道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绿化率 35%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安防系统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无门禁，监控缺失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人脸识别门禁+全覆盖监控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案件降 60%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Microsoft YaHei UI"/>
              </a:rPr>
              <a:t>实施计划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0" y="1620000"/>
            <a:ext cx="6480000" cy="540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40000" y="1368000"/>
            <a:ext cx="360000" cy="36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872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Microsoft YaHei UI"/>
              </a:rPr>
              <a:t>2026 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160000"/>
            <a:ext cx="1440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Microsoft YaHei UI"/>
              </a:rPr>
              <a:t>前期准备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入户调查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方案公示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招标采购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8000" y="1368000"/>
            <a:ext cx="360000" cy="36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000" y="1872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Microsoft YaHei UI"/>
              </a:rPr>
              <a:t>2026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000" y="2160000"/>
            <a:ext cx="1440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Microsoft YaHei UI"/>
              </a:rPr>
              <a:t>基础施工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管网改造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道路修缮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外墙保温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6000" y="1368000"/>
            <a:ext cx="360000" cy="36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1872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Microsoft YaHei UI"/>
              </a:rPr>
              <a:t>2026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2160000"/>
            <a:ext cx="1440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Microsoft YaHei UI"/>
              </a:rPr>
              <a:t>完善施工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电梯加装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停车改造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绿化提升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4000" y="1368000"/>
            <a:ext cx="360000" cy="3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4000" y="1872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Microsoft YaHei UI"/>
              </a:rPr>
              <a:t>2027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4000" y="2160000"/>
            <a:ext cx="1440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Microsoft YaHei UI"/>
              </a:rPr>
              <a:t>竣工验收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居民回访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物业移交</a:t>
            </a:r>
            <a:br/>
            <a:r>
              <a:rPr sz="1100" b="0" i="0">
                <a:solidFill>
                  <a:srgbClr val="334155"/>
                </a:solidFill>
                <a:latin typeface="Microsoft YaHei UI"/>
              </a:rPr>
              <a:t>质保运维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3600000"/>
            <a:ext cx="36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投资概算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00000" y="3960000"/>
          <a:ext cx="7344000" cy="10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</a:tblGrid>
              <a:tr h="3360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基础类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2,800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56%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中央/省级补助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完善类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1,500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30%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市区配套+居民分摊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提升类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700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14%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社会资本+社区自筹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60000" y="1080000"/>
            <a:ext cx="6624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 UI"/>
              </a:rPr>
              <a:t>改造一个小区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1872000"/>
            <a:ext cx="6624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 UI"/>
              </a:rPr>
              <a:t>温暖一方百姓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000" y="2736000"/>
            <a:ext cx="1260000" cy="5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306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Microsoft YaHei UI"/>
              </a:rPr>
              <a:t>让老旧小区焕发新生，让居民生活更有品质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78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Microsoft YaHei UI"/>
              </a:rPr>
              <a:t>以人为本  |  问需于民  |  共建共享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