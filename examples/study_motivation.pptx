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F43F5E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0000" y="-1800000"/>
            <a:ext cx="3024000" cy="69435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440000" y="2880000"/>
            <a:ext cx="4320000" cy="22635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900000"/>
            <a:ext cx="6624000" cy="90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 UI"/>
              </a:rPr>
              <a:t>好好学习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800000"/>
            <a:ext cx="6624000" cy="90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icrosoft YaHei UI"/>
              </a:rPr>
              <a:t>天天向上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2808000"/>
            <a:ext cx="1260000" cy="540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3060000"/>
            <a:ext cx="662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FDE68A"/>
                </a:solidFill>
                <a:latin typeface="Microsoft YaHei UI"/>
              </a:rPr>
              <a:t>每天进步一点点，未来无限可能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3600000"/>
            <a:ext cx="662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FDE68A"/>
                </a:solidFill>
                <a:latin typeface="Microsoft YaHei UI"/>
              </a:rPr>
              <a:t>学习方法  |  时间管理  |  目标规划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 decelerate="1000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  <p:par>
        <p:cTn id="1" dur="indefinite" restart="never">
          <p:childTnLst>
            <p:seq concurrent="1" nextAc="seek">
              <p:cTn id="2" dur="indefinite">
                <p:childTnLst>
                  <p:par>
                    <p:cTn id="3" fill="hold">
                      <p:stCondLst>
                        <p:cond delay="3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tl)">
                                <p:cBhvr>
                                  <p:cTn id="6" dur="500" decelerate="1000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  <a:latin typeface="Microsoft YaHei UI"/>
              </a:rPr>
              <a:t>为什么要好好学习？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1080000"/>
            <a:ext cx="6264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400" b="0" i="1">
                <a:solidFill>
                  <a:srgbClr val="1E293B"/>
                </a:solidFill>
                <a:latin typeface="Microsoft YaHei UI"/>
              </a:rPr>
              <a:t>“知识改变命运，学习成就未来”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140000" y="1728000"/>
            <a:ext cx="864000" cy="36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0000" y="1980000"/>
            <a:ext cx="2232000" cy="136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052000"/>
            <a:ext cx="2232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800" b="1" i="0">
                <a:solidFill>
                  <a:srgbClr val="E11D48"/>
                </a:solidFill>
                <a:latin typeface="Microsoft YaHei UI"/>
              </a:rP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628000"/>
            <a:ext cx="2232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YaHei UI"/>
              </a:rPr>
              <a:t>高薪职位要求本科以上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000" y="1980000"/>
            <a:ext cx="2232000" cy="136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000" y="2052000"/>
            <a:ext cx="2232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800" b="1" i="0">
                <a:solidFill>
                  <a:srgbClr val="E11D48"/>
                </a:solidFill>
                <a:latin typeface="Microsoft YaHei UI"/>
              </a:rPr>
              <a:t>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000" y="2628000"/>
            <a:ext cx="2232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YaHei UI"/>
              </a:rPr>
              <a:t>学历带来的收入差距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2000" y="1980000"/>
            <a:ext cx="2232000" cy="136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2000" y="2052000"/>
            <a:ext cx="2232000" cy="576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2800" b="1" i="0">
                <a:solidFill>
                  <a:srgbClr val="E11D48"/>
                </a:solidFill>
                <a:latin typeface="Microsoft YaHei UI"/>
              </a:rP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2000" y="2628000"/>
            <a:ext cx="2232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YaHei UI"/>
              </a:rPr>
              <a:t>知识复利的长期回报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3600000"/>
            <a:ext cx="7344000" cy="115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127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0000" y="3708000"/>
            <a:ext cx="698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400" b="1" i="0">
                <a:solidFill>
                  <a:srgbClr val="1E293B"/>
                </a:solidFill>
                <a:latin typeface="Microsoft YaHei UI"/>
              </a:rPr>
              <a:t>学习不是为了考试，而是为了拥有更多选择的权利。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104000"/>
            <a:ext cx="6984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Microsoft YaHei UI"/>
              </a:rPr>
              <a:t>每一次的努力，都在为未来的自己铺路。知识是唯一不会被夺走的财富。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  <a:latin typeface="Microsoft YaHei UI"/>
              </a:rPr>
              <a:t>高效学习方法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080000"/>
            <a:ext cx="3528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188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E11D48"/>
                </a:solidFill>
                <a:latin typeface="Microsoft YaHei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000" y="1188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费曼学习法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584000"/>
            <a:ext cx="3168000" cy="100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用最简单的语言把知识讲给别人听。如果你不能简单地解释，说明你还没有真正理解。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716000" y="1080000"/>
            <a:ext cx="3528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6000" y="1188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2563EB"/>
                </a:solidFill>
                <a:latin typeface="Microsoft YaHei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1188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番茄工作法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6000" y="1584000"/>
            <a:ext cx="3168000" cy="100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25 分钟专注学习 + 5 分钟休息。每 4 个番茄钟后长休息 15-30 分钟，保持高效专注。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2952000"/>
            <a:ext cx="3528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0000" y="3060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Microsoft YaHei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4000" y="3060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思维导图法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3456000"/>
            <a:ext cx="3168000" cy="100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用图形化方式梳理知识结构，将零散知识点串联成网络，加深理解和记忆。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6000" y="2952000"/>
            <a:ext cx="3528000" cy="172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6000" y="3060000"/>
            <a:ext cx="432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0" i="0">
                <a:solidFill>
                  <a:srgbClr val="EA580C"/>
                </a:solidFill>
                <a:latin typeface="Microsoft YaHei U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3060000"/>
            <a:ext cx="1800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Microsoft YaHei UI"/>
              </a:rPr>
              <a:t>间隔重复法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6000" y="3456000"/>
            <a:ext cx="3168000" cy="100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按照遗忘曲线安排复习：1天后、3天后、7天后、30天后，将短期记忆转化为长期记忆。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  <a:latin typeface="Microsoft YaHei UI"/>
              </a:rPr>
              <a:t>每日学习时间表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0" y="1368000"/>
            <a:ext cx="5760000" cy="54000"/>
          </a:xfrm>
          <a:prstGeom prst="rect">
            <a:avLst/>
          </a:prstGeom>
          <a:solidFill>
            <a:srgbClr val="F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00000" y="1116000"/>
            <a:ext cx="360000" cy="3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1584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E11D48"/>
                </a:solidFill>
                <a:latin typeface="Microsoft YaHei UI"/>
              </a:rPr>
              <a:t>06:30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872000"/>
            <a:ext cx="1440000" cy="86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Microsoft YaHei UI"/>
              </a:rPr>
              <a:t>早起晨读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背诵单词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朗读课文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0000" y="1116000"/>
            <a:ext cx="360000" cy="3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1584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E11D48"/>
                </a:solidFill>
                <a:latin typeface="Microsoft YaHei UI"/>
              </a:rPr>
              <a:t>08:00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1872000"/>
            <a:ext cx="1440000" cy="86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Microsoft YaHei UI"/>
              </a:rPr>
              <a:t>课堂学习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认真听讲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做好笔记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0000" y="1116000"/>
            <a:ext cx="360000" cy="3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0000" y="1584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E11D48"/>
                </a:solidFill>
                <a:latin typeface="Microsoft YaHei UI"/>
              </a:rPr>
              <a:t>14:00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1872000"/>
            <a:ext cx="1440000" cy="86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Microsoft YaHei UI"/>
              </a:rPr>
              <a:t>作业练习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巩固知识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查漏补缺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0000" y="1116000"/>
            <a:ext cx="360000" cy="3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0" y="1584000"/>
            <a:ext cx="1440000" cy="2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Microsoft YaHei UI"/>
              </a:rPr>
              <a:t>19:00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1872000"/>
            <a:ext cx="1440000" cy="86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Microsoft YaHei UI"/>
              </a:rPr>
              <a:t>复习预习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整理错题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规划明天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" y="2952000"/>
            <a:ext cx="7344000" cy="172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0000" y="3060000"/>
            <a:ext cx="6984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Microsoft YaHei UI"/>
              </a:rPr>
              <a:t>时间管理小贴士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3420000"/>
            <a:ext cx="6984000" cy="108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Microsoft YaHei UI"/>
              </a:rPr>
              <a:t>1. 每天固定时间段学习，形成生物钟习惯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2. 先做最难的科目，精力最充沛时攻克难题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3. 利用碎片时间（等车、排队）背单词或复习</a:t>
            </a:r>
            <a:br/>
            <a:r>
              <a:rPr sz="1200" b="0" i="0">
                <a:solidFill>
                  <a:srgbClr val="334155"/>
                </a:solidFill>
                <a:latin typeface="Microsoft YaHei UI"/>
              </a:rPr>
              <a:t>4. 睡前 10 分钟回顾当天所学，加深记忆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360000"/>
            <a:ext cx="7200000" cy="504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2300" b="1" i="0">
                <a:solidFill>
                  <a:srgbClr val="1E293B"/>
                </a:solidFill>
                <a:latin typeface="Microsoft YaHei UI"/>
              </a:rPr>
              <a:t>目标规划与坚持</a:t>
            </a:r>
          </a:p>
        </p:txBody>
      </p:sp>
      <p:sp>
        <p:nvSpPr>
          <p:cNvPr id="3" name="Rectangle 2"/>
          <p:cNvSpPr/>
          <p:nvPr/>
        </p:nvSpPr>
        <p:spPr>
          <a:xfrm>
            <a:off x="900000" y="864000"/>
            <a:ext cx="792000" cy="4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080000"/>
            <a:ext cx="3744000" cy="360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2700000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188000"/>
            <a:ext cx="338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1" i="0">
                <a:solidFill>
                  <a:srgbClr val="E11D48"/>
                </a:solidFill>
                <a:latin typeface="Microsoft YaHei UI"/>
              </a:rPr>
              <a:t>SMART 目标法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1656000"/>
            <a:ext cx="3384000" cy="280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Microsoft YaHei UI"/>
              </a:rPr>
              <a:t>S - Specific    具体明确</a:t>
            </a:r>
            <a:br/>
            <a:br/>
            <a:r>
              <a:rPr sz="1300" b="0" i="0">
                <a:solidFill>
                  <a:srgbClr val="334155"/>
                </a:solidFill>
                <a:latin typeface="Microsoft YaHei UI"/>
              </a:rPr>
              <a:t>M - Measurable  可衡量</a:t>
            </a:r>
            <a:br/>
            <a:br/>
            <a:r>
              <a:rPr sz="1300" b="0" i="0">
                <a:solidFill>
                  <a:srgbClr val="334155"/>
                </a:solidFill>
                <a:latin typeface="Microsoft YaHei UI"/>
              </a:rPr>
              <a:t>A - Achievable   可实现</a:t>
            </a:r>
            <a:br/>
            <a:br/>
            <a:r>
              <a:rPr sz="1300" b="0" i="0">
                <a:solidFill>
                  <a:srgbClr val="334155"/>
                </a:solidFill>
                <a:latin typeface="Microsoft YaHei UI"/>
              </a:rPr>
              <a:t>R - Relevant      相关性</a:t>
            </a:r>
            <a:br/>
            <a:br/>
            <a:r>
              <a:rPr sz="1300" b="0" i="0">
                <a:solidFill>
                  <a:srgbClr val="334155"/>
                </a:solidFill>
                <a:latin typeface="Microsoft YaHei UI"/>
              </a:rPr>
              <a:t>T - Time-bound  有时限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0" y="1080000"/>
            <a:ext cx="3384000" cy="1656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0000" y="1188000"/>
            <a:ext cx="3024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Microsoft YaHei UI"/>
              </a:rPr>
              <a:t>坚持的秘诀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1548000"/>
            <a:ext cx="3024000" cy="100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把大目标拆成小任务，每完成一个就打勾。21天养成习惯，90天形成稳定行为。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00" y="2880000"/>
            <a:ext cx="3384000" cy="1800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0" y="2988000"/>
            <a:ext cx="3024000" cy="288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Microsoft YaHei UI"/>
              </a:rPr>
              <a:t>奖励机制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0" y="3348000"/>
            <a:ext cx="3024000" cy="115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Microsoft YaHei UI"/>
              </a:rPr>
              <a:t>完成周目标奖励自己看一部电影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完成月目标买一本喜欢的书</a:t>
            </a:r>
            <a:br/>
            <a:r>
              <a:rPr sz="1200" b="0" i="0">
                <a:solidFill>
                  <a:srgbClr val="475569"/>
                </a:solidFill>
                <a:latin typeface="Microsoft YaHei UI"/>
              </a:rPr>
              <a:t>考试进步给自己一份小礼物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0" y="-1080000"/>
            <a:ext cx="3384000" cy="6223500"/>
          </a:xfrm>
          <a:prstGeom prst="rect">
            <a:avLst/>
          </a:prstGeom>
          <a:solidFill>
            <a:srgbClr val="E11D4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1440000" y="2880000"/>
            <a:ext cx="5040000" cy="2263500"/>
          </a:xfrm>
          <a:prstGeom prst="rect">
            <a:avLst/>
          </a:prstGeom>
          <a:solidFill>
            <a:srgbClr val="F43F5E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900000"/>
            <a:ext cx="6624000" cy="79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YaHei UI"/>
              </a:rPr>
              <a:t>学无止境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0000" y="1728000"/>
            <a:ext cx="6624000" cy="792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YaHei UI"/>
              </a:rPr>
              <a:t>勇攀高峰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2736000"/>
            <a:ext cx="1260000" cy="540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3024000"/>
            <a:ext cx="662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FDE68A"/>
                </a:solidFill>
                <a:latin typeface="Microsoft YaHei UI"/>
              </a:rPr>
              <a:t>今天的努力，是明天的底气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0000" y="3600000"/>
            <a:ext cx="6624000" cy="360000"/>
          </a:xfrm>
          <a:prstGeom prst="rect">
            <a:avLst/>
          </a:prstGeom>
          <a:noFill/>
        </p:spPr>
        <p:txBody>
          <a:bodyPr wrap="square" lIns="90000" rIns="90000" tIns="54000" bIns="54000" anchor="ctr">
            <a:spAutoFit/>
          </a:bodyPr>
          <a:lstStyle/>
          <a:p>
            <a:pPr algn="l"/>
            <a:r>
              <a:rPr sz="1500" b="0" i="0">
                <a:solidFill>
                  <a:srgbClr val="FDE68A"/>
                </a:solidFill>
                <a:latin typeface="Microsoft YaHei UI"/>
              </a:rPr>
              <a:t>坚持  |  专注  |  突破</a:t>
            </a:r>
          </a:p>
        </p:txBody>
      </p:sp>
    </p:spTree>
  </p:cSld>
  <p:clrMapOvr>
    <a:masterClrMapping/>
  </p:clrMapOvr>
  <p:timing>
    <p:tnLst>
      <p:par>
        <p:cTn id="1" dur="indefinite" restart="never">
          <p:childTnLst>
            <p:seq concurrent="1" nextAc="seek">
              <p:cTn id="2" dur="indefinite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600" decelerate="1000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  <p:par>
        <p:cTn id="1" dur="indefinite" restart="never">
          <p:childTnLst>
            <p:seq concurrent="1" nextAc="seek">
              <p:cTn id="2" dur="indefinite">
                <p:childTnLst>
                  <p:par>
                    <p:cTn id="3" fill="hold">
                      <p:stCondLst>
                        <p:cond delay="3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tl)">
                                <p:cBhvr>
                                  <p:cTn id="6" dur="500" decelerate="1000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