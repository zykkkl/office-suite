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1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BEB"/>
              </a:gs>
              <a:gs pos="100000">
                <a:srgbClr val="FEF3C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0" y="-720000"/>
            <a:ext cx="1944000" cy="288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080000" y="4320000"/>
            <a:ext cx="2160000" cy="82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1260000"/>
            <a:ext cx="720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 i="0">
                <a:solidFill>
                  <a:srgbClr val="1C1917"/>
                </a:solidFill>
                <a:latin typeface="Microsoft YaHei UI"/>
              </a:defRPr>
            </a:pPr>
            <a:r>
              <a:t>小灰的故事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2000" y="2088000"/>
            <a:ext cx="2520000" cy="108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0" y="2376000"/>
            <a:ext cx="72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78716C"/>
                </a:solidFill>
                <a:latin typeface="Microsoft YaHei UI"/>
              </a:defRPr>
            </a:pPr>
            <a:r>
              <a:t>一只蚂蚁的勇气与智慧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0000" y="3240000"/>
            <a:ext cx="3024000" cy="504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0" y="3312000"/>
            <a:ext cx="3024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Microsoft YaHei UI"/>
              </a:defRPr>
            </a:pPr>
            <a:r>
              <a:t>一个关于坚持与协作的寓言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000" y="4500000"/>
            <a:ext cx="720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A8A29E"/>
                </a:solidFill>
                <a:latin typeface="Microsoft YaHei UI"/>
              </a:defRPr>
            </a:pPr>
            <a:r>
              <a:t>Office Suite · 温暖色系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0" y="1440000"/>
            <a:ext cx="216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700" b="1" i="0">
                <a:solidFill>
                  <a:srgbClr val="FBBF24"/>
                </a:solidFill>
                <a:latin typeface="Microsoft YaHei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2592000"/>
            <a:ext cx="576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C1917"/>
                </a:solidFill>
                <a:latin typeface="Microsoft YaHei UI"/>
              </a:defRPr>
            </a:pPr>
            <a:r>
              <a:t>小灰的日常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0000" y="3240000"/>
            <a:ext cx="1440000" cy="1080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8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48000"/>
            <a:ext cx="72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C1917"/>
                </a:solidFill>
                <a:latin typeface="Microsoft YaHei UI"/>
              </a:defRPr>
            </a:pPr>
            <a:r>
              <a:t>认识小灰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000" y="1152000"/>
            <a:ext cx="3456000" cy="32400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>
            <a:outerShdw blurRad="76200" dist="53881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000" y="1368000"/>
            <a:ext cx="2880000" cy="28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1C1917"/>
                </a:solidFill>
                <a:latin typeface="Microsoft YaHei UI"/>
              </a:defRPr>
            </a:pPr>
            <a:r>
              <a:t>在蚁巢深处，住着一只叫小灰的工蚁。</a:t>
            </a:r>
            <a:br/>
            <a:br/>
            <a:r>
              <a:t>它每天的工作是搬运食物回巢穴，路线固定，日复一日。</a:t>
            </a:r>
            <a:br/>
            <a:br/>
            <a:r>
              <a:t>但小灰和别的工蚁不同——它总想试试新路。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88000" y="1152000"/>
            <a:ext cx="3456000" cy="3240000"/>
          </a:xfrm>
          <a:prstGeom prst="roundRect">
            <a:avLst/>
          </a:prstGeom>
          <a:solidFill>
            <a:srgbClr val="FFFBEB"/>
          </a:solidFill>
          <a:ln>
            <a:noFill/>
          </a:ln>
          <a:effectLst>
            <a:outerShdw blurRad="76200" dist="53881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6000" y="1368000"/>
            <a:ext cx="2880000" cy="28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1C1917"/>
                </a:solidFill>
                <a:latin typeface="Microsoft YaHei UI"/>
              </a:defRPr>
            </a:pPr>
            <a:r>
              <a:t>蚂蚁的世界</a:t>
            </a:r>
            <a:br/>
            <a:br/>
            <a:r>
              <a:t>工蚁占蚁群的 95%，承担觅食、筑巢、育幼等一切劳动。</a:t>
            </a:r>
            <a:br/>
            <a:br/>
            <a:r>
              <a:t>它们通过信息素交流，每条路线都有化学标记。</a:t>
            </a:r>
            <a:br/>
            <a:br/>
            <a:r>
              <a:t>小灰虽然遵守规则，却保留着一颗好奇的心。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0" y="1440000"/>
            <a:ext cx="216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700" b="1" i="0">
                <a:solidFill>
                  <a:srgbClr val="FBBF24"/>
                </a:solidFill>
                <a:latin typeface="Microsoft YaHei U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2592000"/>
            <a:ext cx="576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C1917"/>
                </a:solidFill>
                <a:latin typeface="Microsoft YaHei UI"/>
              </a:defRPr>
            </a:pPr>
            <a:r>
              <a:t>发现方糖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0000" y="3240000"/>
            <a:ext cx="1440000" cy="1080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8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48000"/>
            <a:ext cx="72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C1917"/>
                </a:solidFill>
                <a:latin typeface="Microsoft YaHei UI"/>
              </a:defRPr>
            </a:pPr>
            <a:r>
              <a:t>一块巨大的方糖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000" y="1260000"/>
            <a:ext cx="2232000" cy="16200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1440000"/>
            <a:ext cx="1872000" cy="12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1C1917"/>
                </a:solidFill>
                <a:latin typeface="Microsoft YaHei UI"/>
              </a:defRPr>
            </a:pPr>
            <a:r>
              <a:t>小灰走了一条从未走过的路，</a:t>
            </a:r>
            <a:br/>
            <a:r>
              <a:t>发现了一块巨大的方糖——</a:t>
            </a:r>
            <a:br/>
            <a:r>
              <a:t>比自己身体大五十倍。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8000" y="1260000"/>
            <a:ext cx="2232000" cy="162000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8000" y="1440000"/>
            <a:ext cx="1872000" cy="12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1C1917"/>
                </a:solidFill>
                <a:latin typeface="Microsoft YaHei UI"/>
              </a:defRPr>
            </a:pPr>
            <a:r>
              <a:t>它试着搬，</a:t>
            </a:r>
            <a:br/>
            <a:r>
              <a:t>纹丝不动。</a:t>
            </a:r>
            <a:br/>
            <a:br/>
            <a:r>
              <a:t>换作别的蚂蚁，也许会放弃。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96000" y="1260000"/>
            <a:ext cx="2448000" cy="162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76000" y="1440000"/>
            <a:ext cx="2088000" cy="12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Microsoft YaHei UI"/>
              </a:defRPr>
            </a:pPr>
            <a:r>
              <a:t>但小灰没有。</a:t>
            </a:r>
            <a:br/>
            <a:r>
              <a:t>它跑回巢穴，</a:t>
            </a:r>
            <a:br/>
            <a:r>
              <a:t>发出信息素信号求援。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000" y="3240000"/>
            <a:ext cx="7344000" cy="10800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000" y="3420000"/>
            <a:ext cx="6768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D97706"/>
                </a:solidFill>
                <a:latin typeface="Microsoft YaHei UI"/>
              </a:defRPr>
            </a:pPr>
            <a:r>
              <a:t>启示：面对看似不可能的任务，第一步不是盲目尝试，而是寻求正确的帮助。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0" y="1440000"/>
            <a:ext cx="216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700" b="1" i="0">
                <a:solidFill>
                  <a:srgbClr val="FBBF24"/>
                </a:solidFill>
                <a:latin typeface="Microsoft YaHei U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2592000"/>
            <a:ext cx="576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C1917"/>
                </a:solidFill>
                <a:latin typeface="Microsoft YaHei UI"/>
              </a:defRPr>
            </a:pPr>
            <a:r>
              <a:t>团队协作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0000" y="3240000"/>
            <a:ext cx="1440000" cy="1080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8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48000"/>
            <a:ext cx="72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C1917"/>
                </a:solidFill>
                <a:latin typeface="Microsoft YaHei UI"/>
              </a:defRPr>
            </a:pPr>
            <a:r>
              <a:t>一分钟内，二十只蚂蚁赶到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000" y="1368000"/>
            <a:ext cx="2232000" cy="19800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>
            <a:outerShdw blurRad="76200" dist="53881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1512000"/>
            <a:ext cx="1872000" cy="172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Microsoft YaHei UI"/>
              </a:defRPr>
            </a:pPr>
            <a:r>
              <a:t>分组</a:t>
            </a:r>
            <a:br/>
            <a:br/>
            <a:r>
              <a:t>没有队长，没有口号，自动分成三组：</a:t>
            </a:r>
            <a:br/>
            <a:r>
              <a:t>推、拉、探路。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8000" y="1368000"/>
            <a:ext cx="2232000" cy="19800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>
            <a:outerShdw blurRad="76200" dist="53881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8000" y="1512000"/>
            <a:ext cx="1872000" cy="172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Microsoft YaHei UI"/>
              </a:defRPr>
            </a:pPr>
            <a:r>
              <a:t>执行</a:t>
            </a:r>
            <a:br/>
            <a:br/>
            <a:r>
              <a:t>方糖缓缓移动，经过斜坡时几只蚂蚁被甩开。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96000" y="1368000"/>
            <a:ext cx="2448000" cy="19800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>
            <a:outerShdw blurRad="76200" dist="53881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76000" y="1512000"/>
            <a:ext cx="2088000" cy="172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1C1917"/>
                </a:solidFill>
                <a:latin typeface="Microsoft YaHei UI"/>
              </a:defRPr>
            </a:pPr>
            <a:r>
              <a:t>坚持</a:t>
            </a:r>
            <a:br/>
            <a:br/>
            <a:r>
              <a:t>它们没有放弃，重新找到位置继续推。四十分钟后，方糖搬进了蚁巢。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000" y="3744000"/>
            <a:ext cx="7344000" cy="7920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3852000"/>
            <a:ext cx="7344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D97706"/>
                </a:solidFill>
                <a:latin typeface="Microsoft YaHei UI"/>
              </a:defRPr>
            </a:pPr>
            <a:r>
              <a:t>20 只蚂蚁   ·   40 分钟   ·   0 指挥   ·   100% 协作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0" y="1440000"/>
            <a:ext cx="216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700" b="1" i="0">
                <a:solidFill>
                  <a:srgbClr val="FBBF24"/>
                </a:solidFill>
                <a:latin typeface="Microsoft YaHei U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2592000"/>
            <a:ext cx="576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C1917"/>
                </a:solidFill>
                <a:latin typeface="Microsoft YaHei UI"/>
              </a:defRPr>
            </a:pPr>
            <a:r>
              <a:t>结局与启示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0000" y="3240000"/>
            <a:ext cx="1440000" cy="1080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8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48000"/>
            <a:ext cx="72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C1917"/>
                </a:solidFill>
                <a:latin typeface="Microsoft YaHei UI"/>
              </a:defRPr>
            </a:pPr>
            <a:r>
              <a:t>一个安静的夜晚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000" y="1296000"/>
            <a:ext cx="7344000" cy="18000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>
            <a:outerShdw blurRad="76200" dist="53881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1512000"/>
            <a:ext cx="6624000" cy="13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1C1917"/>
                </a:solidFill>
                <a:latin typeface="Microsoft YaHei UI"/>
              </a:defRPr>
            </a:pPr>
            <a:r>
              <a:t>小灰没有得到奖章，蚁后甚至没有看它一眼。</a:t>
            </a:r>
            <a:br/>
            <a:r>
              <a:t>但那天晚上，整个蚁巢因为这块方糖多撑过了三天的雨季。</a:t>
            </a:r>
            <a:br/>
            <a:br/>
            <a:r>
              <a:t>没有谁是不可替代的，但每个人的贡献都是真实的。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3456000"/>
            <a:ext cx="2232000" cy="108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3600000"/>
            <a:ext cx="1872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Microsoft YaHei UI"/>
              </a:defRPr>
            </a:pPr>
            <a:r>
              <a:t>勇气</a:t>
            </a:r>
            <a:br/>
            <a:r>
              <a:t>敢于走新路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8000" y="3456000"/>
            <a:ext cx="2232000" cy="108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00" y="3600000"/>
            <a:ext cx="1872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Microsoft YaHei UI"/>
              </a:defRPr>
            </a:pPr>
            <a:r>
              <a:t>智慧</a:t>
            </a:r>
            <a:br/>
            <a:r>
              <a:t>懂得求助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96000" y="3456000"/>
            <a:ext cx="2448000" cy="10800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6000" y="3600000"/>
            <a:ext cx="2088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1C1917"/>
                </a:solidFill>
                <a:latin typeface="Microsoft YaHei UI"/>
              </a:defRPr>
            </a:pPr>
            <a:r>
              <a:t>坚持</a:t>
            </a:r>
            <a:br/>
            <a:r>
              <a:t>不轻言放弃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EF3C7"/>
              </a:gs>
              <a:gs pos="100000">
                <a:srgbClr val="FDE68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80000" y="3600000"/>
            <a:ext cx="2664000" cy="15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720000" y="-720000"/>
            <a:ext cx="2880000" cy="288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1620000"/>
            <a:ext cx="720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 i="0">
                <a:solidFill>
                  <a:srgbClr val="1C1917"/>
                </a:solidFill>
                <a:latin typeface="Microsoft YaHei UI"/>
              </a:defRPr>
            </a:pPr>
            <a:r>
              <a:t>谢谢你，小灰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2000" y="2448000"/>
            <a:ext cx="2520000" cy="108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0" y="2880000"/>
            <a:ext cx="720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D97706"/>
                </a:solidFill>
                <a:latin typeface="Microsoft YaHei UI"/>
              </a:defRPr>
            </a:pPr>
            <a:r>
              <a:t>没有谁是不可替代的</a:t>
            </a:r>
            <a:br/>
            <a:r>
              <a:t>但每个人的贡献都是真实的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000" y="4500000"/>
            <a:ext cx="720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A8A29E"/>
                </a:solidFill>
                <a:latin typeface="Microsoft YaHei UI"/>
              </a:defRPr>
            </a:pPr>
            <a:r>
              <a:t>Office Suite 4.0 · 温暖色系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